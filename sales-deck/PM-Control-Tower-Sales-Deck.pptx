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 (cost)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2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ERP-001</c:v>
                  </c:pt>
                  <c:pt idx="1">
                    <c:v>DATA-002</c:v>
                  </c:pt>
                  <c:pt idx="2">
                    <c:v>PORT-003</c:v>
                  </c:pt>
                  <c:pt idx="3">
                    <c:v>MOB-004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1.02</c:v>
                </c:pt>
                <c:pt idx="1">
                  <c:v>0.78</c:v>
                </c:pt>
                <c:pt idx="2">
                  <c:v>0.71</c:v>
                </c:pt>
                <c:pt idx="3">
                  <c:v>0.95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SPI (schedule)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2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ERP-001</c:v>
                  </c:pt>
                  <c:pt idx="1">
                    <c:v>DATA-002</c:v>
                  </c:pt>
                  <c:pt idx="2">
                    <c:v>PORT-003</c:v>
                  </c:pt>
                  <c:pt idx="3">
                    <c:v>MOB-004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</c:v>
                </c:pt>
                <c:pt idx="1">
                  <c:v>0.81</c:v>
                </c:pt>
                <c:pt idx="2">
                  <c:v>0.49</c:v>
                </c:pt>
                <c:pt idx="3">
                  <c:v>1.06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E22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</c:scaling>
        <c:delete val="0"/>
        <c:axPos val="l"/>
        <c:majorGridlines>
          <c:spPr>
            <a:ln w="6350" cap="flat">
              <a:solidFill>
                <a:srgbClr val="E6EB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D6E85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E22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9F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Spreadsheets &amp; decks</c:v>
                  </c:pt>
                  <c:pt idx="1">
                    <c:v>With PM Control Tower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</c:v>
                </c:pt>
                <c:pt idx="1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E22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E2A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2743200"/>
            <a:ext cx="1371600" cy="13716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2057400"/>
            <a:ext cx="2743200" cy="27432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1325880"/>
            <a:ext cx="4206240" cy="42062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594360"/>
            <a:ext cx="5669280" cy="5669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0" y="-137160"/>
            <a:ext cx="7132320" cy="71323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35640" y="1828800"/>
            <a:ext cx="146304" cy="1463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448056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Shape 7"/>
          <p:cNvSpPr/>
          <p:nvPr/>
        </p:nvSpPr>
        <p:spPr>
          <a:xfrm>
            <a:off x="11247120" y="3977640"/>
            <a:ext cx="146304" cy="1463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Shape 8"/>
          <p:cNvSpPr/>
          <p:nvPr/>
        </p:nvSpPr>
        <p:spPr>
          <a:xfrm>
            <a:off x="9235440" y="228600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1" name="Shape 9"/>
          <p:cNvSpPr/>
          <p:nvPr/>
        </p:nvSpPr>
        <p:spPr>
          <a:xfrm>
            <a:off x="10332720" y="283464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2" name="Shape 10"/>
          <p:cNvSpPr/>
          <p:nvPr/>
        </p:nvSpPr>
        <p:spPr>
          <a:xfrm>
            <a:off x="8412480" y="310896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27080" y="53949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740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12344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PROJECT · PROGRAM · PORTFOLIO MANAGEMENT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1627632"/>
            <a:ext cx="8778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</a:t>
            </a:r>
            <a:endParaRPr lang="en-US" sz="6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TOWER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7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platform. Complete project intelligence. </a:t>
            </a:r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outcomes.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7200" y="44348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→ Program → Project → Delivery — one source of truth for scope, schedule, cost, risk, EVM and governance. Self-hosted, realtime, audit-ready — now with the Integrity Layer: honest staleness, evidence chains, P80 forecasting, benefits realization.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806440"/>
            <a:ext cx="2926080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dynamiq Solutions  ·  Corporate Sales Presentation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APPLICATION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control tower for the entire delivery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never has to ask a project manager for status. </a:t>
            </a:r>
            <a:pPr indent="0" marL="0">
              <a:buNone/>
            </a:pPr>
            <a:r>
              <a:rPr lang="en-US" sz="16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continuously aggregates live operational data into decision-ready views, exception-first feeds and one-click executive reporting.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769364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873606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3606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85770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3290011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0011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02175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06417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6417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WBS · TASKS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18581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2822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2822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· CPM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34986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7539228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39228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51392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3" name="Shape 21"/>
          <p:cNvSpPr/>
          <p:nvPr/>
        </p:nvSpPr>
        <p:spPr>
          <a:xfrm>
            <a:off x="8955634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55634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267798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6" name="Shape 24"/>
          <p:cNvSpPr/>
          <p:nvPr/>
        </p:nvSpPr>
        <p:spPr>
          <a:xfrm>
            <a:off x="10372039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0E2240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72039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layer writes to one governed data model — roll-ups, health and forecasts are computed, never re-typed.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57200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457200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2752344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752344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104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2752344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routes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47488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47488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5047488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computation engines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342632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342632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4000" dirty="0"/>
          </a:p>
        </p:txBody>
      </p:sp>
      <p:sp>
        <p:nvSpPr>
          <p:cNvPr id="40" name="Text 38"/>
          <p:cNvSpPr/>
          <p:nvPr/>
        </p:nvSpPr>
        <p:spPr>
          <a:xfrm>
            <a:off x="7342632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modules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637776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637776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9637776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realtime services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footprint: PM Control Tower v1.0.0 product specification.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INTEGRITY LAYER — V1.1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firsts, one operational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810512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tells you when it is lying — DATA AS OF chips, hatched stale tiles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74136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3886200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Bundles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SHA-256 tamper-evident chain; ZIP export; verification pinpoints altered records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28816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6803136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P80 Forecasting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Seeded Monte Carlo on an async worker — honest P50–P80 date ranges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08008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45752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9720072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Say/Do Calibration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45752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organization remembers its estimation bias — advisory only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" y="40233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Sandbox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4944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decisions on a clone; drift-aware rebase merge as a Change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74136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11880" y="40233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3886200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Steering 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11880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drafts, humans approve via signed expiring links — never auto-executes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91072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28816" y="4023360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03136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 Realization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28816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promised vs delivered after go-live — strategic RAG overlay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208008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445752" y="4023360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4" name="Text 32"/>
          <p:cNvSpPr/>
          <p:nvPr/>
        </p:nvSpPr>
        <p:spPr>
          <a:xfrm>
            <a:off x="9720072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Traceability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445752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mutation audited; every stochastic result reproducible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moat is not any single feature — </a:t>
            </a:r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that the architecture makes honesty structurally easy.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is flying blind — and it shows up in the P&amp;L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every dollar invested is wasted through poor project performance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28×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53712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money wasted by organizations with mature delivery practices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8375904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projects mostly or always meet their original goals and business intent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1127455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looks like inside the enterprise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decks assembled by hand every week — out of date the moment they are sent.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Portfolio, finance and delivery each hold a different version of the truth in spreadsheets.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and cost overruns surface at steering committees — after the decision window has closed.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PMI, Pulse of the Profession (2018); Wellingtone, State of Project Management.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PROBLEMS IT SOLVES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status-chasing to self-reporting delivery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81328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status decks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800600" y="1764792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5257800" y="1481328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1481328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computed live from operational data — never re-typed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450592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5059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Scattered spreadsheets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800600" y="2734056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2450592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2450592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governed data model: 57 models, one source of truth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419856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419856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surface too late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800600" y="3703320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57800" y="3419856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3419856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rules watch thresholds and push alerts to inboxes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389120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389120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&amp; schedule blind spots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4800600" y="4672584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57800" y="4389120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4389120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+ EVM engines quantify float, CPI, SPI and forecast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57200" y="5358384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5358384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without traceability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800600" y="5641848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57800" y="5358384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0" y="5358384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audit trail on every change, approval and gate decision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engines of control, one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41248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Schedule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ES/EF/LS/LF, float and critical path recomputed on every change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6208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37376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6437376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20256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104888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Engine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04888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CPI, SPI, EAC, ETC, VAC, TCPI with period-over-period history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25880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Governance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snapshots; threshold rules raise alerts straight to inboxes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6208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37376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37376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20256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104888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Capacity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04888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Register, rates, utilization and over-allocation flags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8368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1248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325880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 Cascade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25880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→ approve → lock flows straight into actuals and cost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36208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37376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20256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7104888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Inbox &amp; Planner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104888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action stream plus weekly focus-time planning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57200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58368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41248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1325880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RAID · Change · Gates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325880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Risks, issues, assumptions, change requests, stage-gate decisions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36208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437376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8" name="Text 46"/>
          <p:cNvSpPr/>
          <p:nvPr/>
        </p:nvSpPr>
        <p:spPr>
          <a:xfrm>
            <a:off x="6437376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620256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7104888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7104888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executive reporting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&amp;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seven governed domains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76656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Portfolios · Programs · Projects · RAG health · Budgets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74136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93592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4178808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3592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· WBS · Tasks · Schedule · Milestones · Baselines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10528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7095744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0528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· Timesheets · Work Inbox · Focus Planner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08008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27464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12680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27464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Financials · EVM · RAID · Change · Gates · Governance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1261872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Tower · Leadership Pack · Analytics · AI Assistant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374136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93592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93592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Integrations · Webhooks · Automations · AI Gateway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91072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10528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7095744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· Roles · Templates · Audit Trail · Configuration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view modules</a:t>
            </a:r>
            <a:pPr indent="0" marL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every screen reads from the same engines, so a number changed once is changed everywhere.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EACH FEATURE IS USED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how each role actually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73936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602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1627632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 the Executive Control Tower — exceptions first, RAG with honest GREY, 30/60/90 outlook — decides stage gates, exports the Leadership Pack.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724912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980944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6722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ADMIN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0" y="2834640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Provisions users across 8 roles / 32 permissions, applies PMO templates to new projects, tunes governance thresholds, monitors the audit trail.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4187952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17423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0" y="4041648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WBS and CPM schedule, baselines, tracks CPI/SPI and RAID, routes change requests — status writes itself as the team works.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138928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5394960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538124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MEMBER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00400" y="5248656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the week in Focus Planner, works the personal inbox, files weekly timesheets that flow into real cost and EVM — no separate reporting.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&amp; AUTOMATION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cascade: from timesheet to boardroom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99132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8" name="Shape 6"/>
          <p:cNvSpPr/>
          <p:nvPr/>
        </p:nvSpPr>
        <p:spPr>
          <a:xfrm>
            <a:off x="2404872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14600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locked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46804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62272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62272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Actuals &amp; cost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roll-up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4476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0216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9944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9944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period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 / SPI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2148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47888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57616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989820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9556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59E0B"/>
          </a:solidFill>
          <a:ln/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30528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30528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200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6 fans out automatically:  </a:t>
            </a:r>
            <a:pPr indent="0" marL="0">
              <a:buNone/>
            </a:pPr>
            <a:r>
              <a:rPr lang="en-US" sz="14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land in role inboxes, automations fire, leadership views refresh in realtime — zero human assembly.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11274552" cy="2148840"/>
          </a:xfrm>
          <a:prstGeom prst="roundRect">
            <a:avLst>
              <a:gd name="adj" fmla="val 425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9502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rules react to triggers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TASK_OVERDUE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69748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alerted, task flagged on the register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1792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CRITICAL_RISK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13816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escalation raised in inbox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7724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BUDGET_BREACH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9748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 controller notified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21792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HEALTH_DROP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13816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Steering review queued, snapshot kept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Socket.IO realtime gateway pushes every engine result to connected screens instantly.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 that compound at every 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source of truth across portfolios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Capacity &amp; over-allocation visible daily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exceptions in one queue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Fewer, shorter status meetings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time planned, protected and linked to tasks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inbox for everything that needs action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Timesheets feed real EVM — they count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reporting admin, more delivery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01584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75904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375904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94192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Decision-ready views, exceptions first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 board pack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Traceable insight behind every number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GREY status — never fake green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GREY honesty: </a:t>
            </a:r>
            <a:pPr indent="0" marL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data is missing, the tower shows GREY — not a comforting green. Executives trust what they see.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&amp;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that answer, not decorate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612648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value by project — CPI / SPI at latest period close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057400"/>
          <a:ext cx="56692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481328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086600" y="15636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Control Tower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86600" y="1847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Exception-first feed, RAG + GREY, traceable insights, 30/60/90 outlook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0" y="2359152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4414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086600" y="27249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— board-ready in minutes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858000" y="3236976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086600" y="3319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sub-reports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086600" y="36027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Schedule, cost, resources, RAID, governance, change and more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858000" y="4114800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086600" y="4197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What-Changed &amp; Analytics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086600" y="44805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 any period; explore trends across the portfolio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858000" y="4992624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08660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PM Assistant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086600" y="535838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natural language — governed access to all delivery data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Chart: reference deployment sample data (illustrative).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 &amp; PRODUCTIVITY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productivity math favors the tower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6–10 h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project manager, per week — recovered from assembling status (est.)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1 day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53712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operational event to executive visibility via the realtime cascade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1584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375904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 investment is the waste pool mature practices recover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61264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hours per week on reporting (per PM)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85800" y="4389120"/>
          <a:ext cx="5669280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858000" y="3840480"/>
            <a:ext cx="4873752" cy="2148840"/>
          </a:xfrm>
          <a:prstGeom prst="roundRect">
            <a:avLst>
              <a:gd name="adj" fmla="val 4255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132320" y="4023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payback comes from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132320" y="438912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reporting effort collapses into the work itself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Earlier intervention on lagging projects protects margin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replaces spreadsheet sprawl and tool patchworks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 figures are illustrative estimates; the 9.9% waste figure is sourced (PMI, 2018).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earns its keep on day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ERP &amp; technology rollouts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Critical-path control across vendors; cutover gates with evidence; UAT defect and RAID pressure visible in one view.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6208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E9F6E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50608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 migration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64808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planning with dependencies, burn tracked by EVM, spend governance on experimental workloads.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Regulated &amp; compliance programs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gates with documented decisions, change control discipline, audit trail that satisfies the second line of defense.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36208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50608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stand-up &amp; transformation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64808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RAG standards, templates and portfolio governance in weeks — with the reference dataset as a working model.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274320"/>
            <a:ext cx="1097280" cy="1097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274320"/>
            <a:ext cx="2194560" cy="219456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822960"/>
            <a:ext cx="3291840" cy="3291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0" y="-1371600"/>
            <a:ext cx="4389120" cy="4389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CORPORATIONS SHOULD ADOPT 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are only as good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the data beneath them.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control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in your data center or your cloud — delivery data never leaves your perimeter.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36208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truth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0528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Engines compute health, EVM and forecasts continuously — the tower is always current.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delivery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Thresholds, gates, change control and audit are enforced by the system, not by memory.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36208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time-to-value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10528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dataset, templates and one-click packs make the first steering meeting productive.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&amp;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 four weeks — not four months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6656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Compose or bare metal; schema and reference enterprise dataset created on first boot.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9544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34256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593592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17" name="Text 15"/>
          <p:cNvSpPr/>
          <p:nvPr/>
        </p:nvSpPr>
        <p:spPr>
          <a:xfrm>
            <a:off x="3593592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93592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system roles / 32 permissions, PMO template library, governance thresholds and inboxes.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0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0528" y="1956816"/>
            <a:ext cx="603504" cy="6035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2" name="Text 20"/>
          <p:cNvSpPr/>
          <p:nvPr/>
        </p:nvSpPr>
        <p:spPr>
          <a:xfrm>
            <a:off x="6510528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251192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510528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0528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CSV import with dry-run validation across 13 master-data entities; CSV/JSON export for 22.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43416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08008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427464" y="1956816"/>
            <a:ext cx="603504" cy="6035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9427464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168128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427464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33" name="Text 31"/>
          <p:cNvSpPr/>
          <p:nvPr/>
        </p:nvSpPr>
        <p:spPr>
          <a:xfrm>
            <a:off x="9427464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3–4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427464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onboard in the work inbox and planner; realtime gateway live; first Leadership Pack shipped.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4892040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7240" y="48920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from day one:  </a:t>
            </a:r>
            <a:pPr indent="0" marL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enterprise dataset  ·  10-product documentation set  ·  operations runbook  ·  audit-ready event history  ·  executive demo data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SCALABILITY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by design, not by add-on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sessions with 8 system roles and 32 granular permissions; super-admin isolation.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6803136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traceability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03136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event recorded on every create, update, approval and gate decision — exportable.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perimeter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on-premises, private cloud or Docker — delivery data never leaves your control.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36208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803136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to scale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03136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in production, stateless app tier, Socket.IO gateway, containerized rollout.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discipline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imports validate before commit; history-preserving guards block destructive deletes.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sx="100000" sy="100000" kx="0" ky="0" algn="bl" rotWithShape="0" blurRad="88900" dist="25400" dir="540000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92240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803136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Operable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03136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Env-based secrets, deployment guide, operations runbook and health endpoints included.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detail: PM Control Tower security &amp; architecture documentation (v1.0.0).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COMPETITIVE DIFFERENTIATION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spreadsheets — or the legacy suite?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26664"/>
                <a:gridCol w="2889504"/>
                <a:gridCol w="2889504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Control Tower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Spreadsheets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Legacy PPM suites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 to value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Immediate, then chaos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Months of configuration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CPM + EVM engines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Built-in, always 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Manual formulas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Paid add-on modules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&amp; alerts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Rules engine → inbox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Batch reports next day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trail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change recorded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Leadership reporting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One-click, versioned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Hand-built decks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Consultant-configured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Realtime updates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via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 on arrival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Nightly synchronization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Self-hosted or your cloud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cloud only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difference that matters:  </a:t>
            </a:r>
            <a:pPr indent="0" marL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computes the truth instead of collecting 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257800"/>
            <a:ext cx="1005840" cy="1005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709160"/>
            <a:ext cx="2103120" cy="2103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11480" y="4160520"/>
            <a:ext cx="3200400" cy="32004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60120" y="3611880"/>
            <a:ext cx="4297680" cy="42976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TO ACTION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control from one tower.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your own portfolio inside PM Control Tower within two weeks.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843784"/>
            <a:ext cx="566928" cy="56692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17320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 workshop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a day with your PMO — map portfolios, programs and governance thresholds.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79392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35424" y="2843784"/>
            <a:ext cx="566928" cy="5669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6" name="Text 14"/>
          <p:cNvSpPr/>
          <p:nvPr/>
        </p:nvSpPr>
        <p:spPr>
          <a:xfrm>
            <a:off x="4535424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9512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pilot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35424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weeks on one real program: WBS to EVM to governance, with your data.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57616" y="28437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061704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readout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7616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first Leadership Pack presented to the steering committee — the decision writes itself.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11274552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577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dynamiq Solutions — PM Control Tower team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sales@dynamiq.solutions   ·   dynamiq.solutions/pmct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132320" y="598932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· EXECUTE · MONITOR · GOVERN · DELIVER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 Control Tower — Corporate Sales Presentation</dc:title>
  <dc:subject>PptxGenJS Presentation</dc:subject>
  <dc:creator>dynamiq Solutions</dc:creator>
  <cp:lastModifiedBy>dynamiq Solutions</cp:lastModifiedBy>
  <cp:revision>1</cp:revision>
  <dcterms:created xsi:type="dcterms:W3CDTF">2026-09-12T19:11:35Z</dcterms:created>
  <dcterms:modified xsi:type="dcterms:W3CDTF">2026-09-12T19:11:35Z</dcterms:modified>
</cp:coreProperties>
</file>